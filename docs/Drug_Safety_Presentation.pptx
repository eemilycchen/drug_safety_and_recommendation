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232E"/>
                </a:solidFill>
              </a:defRPr>
            </a:pPr>
            <a:r>
              <a:t>Drug Safety &amp; Recommendation</a:t>
            </a:r>
          </a:p>
          <a:p>
            <a:pPr>
              <a:spcBef>
                <a:spcPts val="1200"/>
              </a:spcBef>
              <a:defRPr sz="2400">
                <a:solidFill>
                  <a:srgbClr val="5D6D7E"/>
                </a:solidFill>
              </a:defRPr>
            </a:pPr>
            <a:r>
              <a:t>Multi-Database Clinical Decision-Support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  <a:defRPr sz="2200"/>
            </a:pPr>
            <a:r>
              <a:t>Unsafe prescribing • No unified patient + drug + evidence 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4 Databases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  <a:defRPr sz="2200"/>
            </a:pPr>
            <a:r>
              <a:t>PostgreSQL — Patient EHR</a:t>
            </a:r>
          </a:p>
          <a:p>
            <a:pPr>
              <a:spcBef>
                <a:spcPts val="800"/>
              </a:spcBef>
              <a:defRPr sz="2200"/>
            </a:pPr>
            <a:r>
              <a:t>Neo4j — Interactions &amp; side effects</a:t>
            </a:r>
          </a:p>
          <a:p>
            <a:pPr>
              <a:spcBef>
                <a:spcPts val="800"/>
              </a:spcBef>
              <a:defRPr sz="2200"/>
            </a:pPr>
            <a:r>
              <a:t>Qdrant — Similar adverse events</a:t>
            </a:r>
          </a:p>
          <a:p>
            <a:pPr>
              <a:spcBef>
                <a:spcPts val="800"/>
              </a:spcBef>
              <a:defRPr sz="2200"/>
            </a:pPr>
            <a:r>
              <a:t>MongoDB — Evidence + audit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solidFill>
            <a:srgbClr val="F0F0F0"/>
          </a:solidFill>
          <a:ln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Patient + Drug → PG • Neo4j • Qdrant • MongoDB →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PostgreSQL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  <a:defRPr sz="2200"/>
            </a:pPr>
            <a:r>
              <a:t>Synthea: patients, medications, conditions, allergies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Why Graph? Polypharmacy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  <a:defRPr sz="2200"/>
            </a:pPr>
            <a:r>
              <a:t>Patient: Aspirin, Metformin, Lisinopril. Add Warfarin?</a:t>
            </a:r>
          </a:p>
          <a:p>
            <a:pPr>
              <a:spcBef>
                <a:spcPts val="800"/>
              </a:spcBef>
              <a:defRPr sz="2200"/>
            </a:pPr>
            <a:r>
              <a:t>Cluster 1: Aspirin–Warfarin | Cluster 2: Metformin–Lisinopril</a:t>
            </a:r>
          </a:p>
          <a:p>
            <a:pPr>
              <a:spcBef>
                <a:spcPts val="800"/>
              </a:spcBef>
              <a:defRPr sz="2200"/>
            </a:pPr>
            <a:r>
              <a:t>Warfarin–Lisinopril also interact → BRIDGES clusters → one risky chain</a:t>
            </a:r>
          </a:p>
          <a:p>
            <a:pPr>
              <a:spcBef>
                <a:spcPts val="800"/>
              </a:spcBef>
              <a:defRPr sz="2200"/>
            </a:pPr>
            <a:r>
              <a:t>Graph: subgraph + connected components. SQL: recursive CTEs.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Why Graph? (Explicit)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800"/>
            </a:pPr>
            <a:r>
              <a:t>Neo4j: natural subgraph, cluster + bridge detection</a:t>
            </a:r>
          </a:p>
          <a:p>
            <a:pPr>
              <a:spcBef>
                <a:spcPts val="600"/>
              </a:spcBef>
              <a:defRPr sz="1800"/>
            </a:pPr>
            <a:r>
              <a:t>Nodes = drugs, edges = interactions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Neo4j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  <a:defRPr sz="2200"/>
            </a:pPr>
            <a:r>
              <a:t>RxNav + SIDER • Interaction clusters • Bridge risk • Side effects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Qdrant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  <a:defRPr sz="2200"/>
            </a:pPr>
            <a:r>
              <a:t>BioLORD embeddings • FAERS similarity • Alternatives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MongoDB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  <a:defRPr sz="2200"/>
            </a:pPr>
            <a:r>
              <a:t>faers_raw, faers_norm • safety_check_audit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Interaction Graph (Neo4j)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4572000"/>
          </a:xfrm>
          <a:prstGeom prst="rect">
            <a:avLst/>
          </a:prstGeom>
          <a:solidFill>
            <a:srgbClr val="F0F0F0"/>
          </a:solidFill>
          <a:ln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669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Drug nodes • Interaction edges • Alternatives (dashed)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800"/>
            </a:pPr>
            <a:r>
              <a:t>LOW / MODERATE / WARNING</a:t>
            </a:r>
          </a:p>
          <a:p>
            <a:pPr>
              <a:spcBef>
                <a:spcPts val="600"/>
              </a:spcBef>
              <a:defRPr sz="1800"/>
            </a:pPr>
            <a:r>
              <a:t>X patients reported [reactions]</a:t>
            </a:r>
          </a:p>
          <a:p>
            <a:pPr>
              <a:spcBef>
                <a:spcPts val="600"/>
              </a:spcBef>
              <a:defRPr sz="1800"/>
            </a:pPr>
            <a:r>
              <a:t>Alternatives: Drug A, B, 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232E"/>
                </a:solidFill>
              </a:defRPr>
            </a:pPr>
            <a:r>
              <a:t>Thank You</a:t>
            </a:r>
          </a:p>
          <a:p>
            <a:pPr>
              <a:spcBef>
                <a:spcPts val="1200"/>
              </a:spcBef>
              <a:defRPr sz="2400">
                <a:solidFill>
                  <a:srgbClr val="5D6D7E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